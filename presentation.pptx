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tanmaluki/SolderDefectDetectionSyste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SolSight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Solder Defect Detection System — Automatic Optical Inspection with AI</a:t>
            </a:r>
            <a:br/>
            <a:br/>
            <a:r>
              <a:rPr/>
              <a:t>AI-Powered Defect Detection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2026-09-27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 </a:t>
                </a:r>
                <a:r>
                  <a:rPr b="1"/>
                  <a:t>SolSight</a:t>
                </a:r>
              </a:p>
              <a:p>
                <a:pPr lvl="0" indent="0" marL="0">
                  <a:buNone/>
                </a:pPr>
                <a:r>
                  <a:rPr b="1"/>
                  <a:t>Solder Defect Detection System</a:t>
                </a:r>
              </a:p>
              <a:p>
                <a:pPr lvl="0" indent="0" marL="0">
                  <a:buNone/>
                </a:pPr>
                <a:r>
                  <a:rPr/>
                  <a:t> Unsupervised Anomaly Detection for PCB Assembly</a:t>
                </a:r>
              </a:p>
              <a:p>
                <a:pPr lvl="0" indent="0" marL="0">
                  <a:buNone/>
                </a:pPr>
                <a:r>
                  <a:rPr/>
                  <a:t>block body</a:t>
                </a:r>
              </a:p>
              <a:p>
                <a:pPr lvl="0"/>
                <a:r>
                  <a:rPr b="1"/>
                  <a:t>Fully Convolutional Autoencoder</a:t>
                </a:r>
                <a:r>
                  <a:rPr/>
                  <a:t> for real-time inspection</a:t>
                </a:r>
              </a:p>
              <a:p>
                <a:pPr lvl="0"/>
                <a:r>
                  <a:rPr/>
                  <a:t>Resolution-Agnostic architecture (16px to 160px)</a:t>
                </a:r>
              </a:p>
              <a:p>
                <a:pPr lvl="0"/>
                <a:r>
                  <a:rPr/>
                  <a:t>Zero-Supervised learning on defect-free joints</a:t>
                </a:r>
              </a:p>
              <a:p>
                <a:pPr lvl="0" indent="0" marL="0">
                  <a:buNone/>
                </a:pPr>
                <a:r>
                  <a:rPr/>
                  <a:t>The Problem</a:t>
                </a:r>
              </a:p>
              <a:p>
                <a:pPr lvl="0"/>
                <a:r>
                  <a:rPr/>
                  <a:t>Manual solder joint inspection is time-consuming &amp; error-prone</a:t>
                </a:r>
              </a:p>
              <a:p>
                <a:pPr lvl="0"/>
                <a:r>
                  <a:rPr/>
                  <a:t>Defects &amp; degradation in PCB assemblies directly impact reliability</a:t>
                </a:r>
              </a:p>
              <a:p>
                <a:pPr lvl="0"/>
                <a:r>
                  <a:rPr/>
                  <a:t>Traditional AOI systems require extensive labeled datasets</a:t>
                </a:r>
              </a:p>
              <a:p>
                <a:pPr lvl="0"/>
                <a:r>
                  <a:rPr/>
                  <a:t>Defect variations across hardware make generalization difficult</a:t>
                </a:r>
              </a:p>
              <a:p>
                <a:pPr lvl="0" indent="0" marL="0">
                  <a:buNone/>
                </a:pPr>
                <a:r>
                  <a:rPr b="1"/>
                  <a:t>What if we could detect anomalies without labeling defects?</a:t>
                </a:r>
              </a:p>
              <a:p>
                <a:pPr lvl="0" indent="0" marL="0">
                  <a:buNone/>
                </a:pPr>
                <a:r>
                  <a:rPr/>
                  <a:t>Our Solution</a:t>
                </a:r>
              </a:p>
              <a:p>
                <a:pPr lvl="0" indent="0" marL="0">
                  <a:buNone/>
                </a:pPr>
                <a:r>
                  <a:rPr b="1"/>
                  <a:t>Train on Normal Joints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 b="1"/>
                  <a:t> Detect Anomalies as Reconstruction Failures</a:t>
                </a:r>
              </a:p>
              <a:p>
                <a:pPr lvl="0" indent="0" marL="0">
                  <a:buNone/>
                </a:pPr>
                <a:r>
                  <a:rPr/>
                  <a:t>Architecture Design</a:t>
                </a:r>
              </a:p>
              <a:p>
                <a:pPr lvl="0" indent="0" marL="0">
                  <a:buNone/>
                </a:pPr>
                <a:r>
                  <a:rPr b="1"/>
                  <a:t>Fully Convolutional Autoencoder (CAE)</a:t>
                </a:r>
              </a:p>
              <a:p>
                <a:pPr lvl="0"/>
                <a:r>
                  <a:rPr b="1"/>
                  <a:t>Encoder:</a:t>
                </a:r>
                <a:r>
                  <a:rPr/>
                  <a:t> 3 convolutional layers with stride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r>
                          <m:t>2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Bottleneck</a:t>
                </a:r>
              </a:p>
              <a:p>
                <a:pPr lvl="0"/>
                <a:r>
                  <a:rPr b="1"/>
                  <a:t>Decoder:</a:t>
                </a:r>
                <a:r>
                  <a:rPr/>
                  <a:t> 3 transpose convolutions with stride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"/>
                        <m:grow/>
                      </m:dPr>
                      <m:e>
                        <m:r>
                          <m:t>1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2</m:t>
                        </m:r>
                      </m:e>
                    </m:d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Reconstruction</a:t>
                </a:r>
              </a:p>
              <a:p>
                <a:pPr lvl="0"/>
                <a:r>
                  <a:rPr b="1"/>
                  <a:t>Scoring:</a:t>
                </a:r>
                <a:r>
                  <a:rPr/>
                  <a:t> Adaptive SSIM window scaled for patch size</a:t>
                </a:r>
              </a:p>
              <a:p>
                <a:pPr lvl="0" indent="0" marL="0">
                  <a:buNone/>
                </a:pPr>
                <a:r>
                  <a:rPr/>
                  <a:t>Multi-Scale Training Strategy</a:t>
                </a:r>
              </a:p>
              <a:p>
                <a:pPr lvl="0" indent="0" marL="0">
                  <a:buNone/>
                </a:pPr>
                <a:r>
                  <a:rPr b="1"/>
                  <a:t>Key Advantage:</a:t>
                </a:r>
                <a:r>
                  <a:rPr/>
                  <a:t> Single model handles patches from 16px to 160px natively</a:t>
                </a:r>
              </a:p>
              <a:p>
                <a:pPr lvl="0"/>
                <a:r>
                  <a:rPr/>
                  <a:t>No patch rescaling needed</a:t>
                </a:r>
              </a:p>
              <a:p>
                <a:pPr lvl="0"/>
                <a:r>
                  <a:rPr/>
                  <a:t>Adaptive SSIM window calibration per resolution</a:t>
                </a:r>
              </a:p>
              <a:p>
                <a:pPr lvl="0"/>
                <a:r>
                  <a:rPr/>
                  <a:t>Trained on 5,700+ procedurally synthesized patches</a:t>
                </a:r>
              </a:p>
              <a:p>
                <a:pPr lvl="0" indent="0" marL="0">
                  <a:buNone/>
                </a:pPr>
                <a:r>
                  <a:rPr/>
                  <a:t>Synthetic Benchmark Results</a:t>
                </a:r>
              </a:p>
              <a:p>
                <a:pPr lvl="0" indent="0" marL="0">
                  <a:buNone/>
                </a:pPr>
                <a:r>
                  <a:rPr b="1"/>
                  <a:t>Key Insight:</a:t>
                </a:r>
                <a:r>
                  <a:rPr/>
                  <a:t> Model generalizes exceptionally well to untrained resolutions</a:t>
                </a:r>
              </a:p>
              <a:p>
                <a:pPr lvl="0"/>
                <a:r>
                  <a:rPr/>
                  <a:t>Cold joint detection: 96–100% recall across all tiers</a:t>
                </a:r>
              </a:p>
              <a:p>
                <a:pPr lvl="0"/>
                <a:r>
                  <a:rPr/>
                  <a:t>Per-tier thresholds enable resolution-aware scoring</a:t>
                </a:r>
              </a:p>
              <a:p>
                <a:pPr lvl="0" indent="0" marL="0">
                  <a:buNone/>
                </a:pPr>
                <a:r>
                  <a:rPr/>
                  <a:t>Real-World PCBA Results (SolDef-AI) </a:t>
                </a:r>
                <a:r>
                  <a:rPr b="1"/>
                  <a:t>Zero-Shot Transfer to Physical Hardware</a:t>
                </a:r>
              </a:p>
              <a:p>
                <a:pPr lvl="0" indent="0" marL="0">
                  <a:buNone/>
                </a:pPr>
                <a:r>
                  <a:rPr/>
                  <a:t> Production-ready for site-specific calibration workflows</a:t>
                </a:r>
              </a:p>
              <a:p>
                <a:pPr lvl="0" indent="0" marL="0">
                  <a:buNone/>
                </a:pPr>
                <a:r>
                  <a:rPr/>
                  <a:t>Empirical Failure Boundaries</a:t>
                </a:r>
              </a:p>
              <a:p>
                <a:pPr lvl="0"/>
                <a:r>
                  <a:rPr/>
                  <a:t>Validated across </a:t>
                </a:r>
                <a14:m>
                  <m:oMath xmlns:m="http://schemas.openxmlformats.org/officeDocument/2006/math">
                    <m:r>
                      <m:t>128</m:t>
                    </m:r>
                  </m:oMath>
                </a14:m>
                <a:r>
                  <a:rPr/>
                  <a:t> resolution tiers</a:t>
                </a:r>
              </a:p>
              <a:p>
                <a:pPr lvl="0"/>
                <a:r>
                  <a:rPr/>
                  <a:t>Per-tier adaptive thresholding addresses boundary cases</a:t>
                </a:r>
              </a:p>
              <a:p>
                <a:pPr lvl="0"/>
                <a:r>
                  <a:rPr/>
                  <a:t>Stress test suite verifies reliability margins</a:t>
                </a:r>
              </a:p>
              <a:p>
                <a:pPr lvl="0" indent="0" marL="0">
                  <a:buNone/>
                </a:pPr>
                <a:r>
                  <a:rPr/>
                  <a:t>Deployment Workflow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Calibration Phase</a:t>
                </a:r>
              </a:p>
              <a:p>
                <a:pPr lvl="1"/>
                <a:r>
                  <a:rPr/>
                  <a:t>Collect 100–200 site-specific good solder samples</a:t>
                </a:r>
              </a:p>
              <a:p>
                <a:pPr lvl="1"/>
                <a:r>
                  <a:rPr/>
                  <a:t>Fine-tune threshold on local hardware (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site</m:t>
                        </m:r>
                      </m:sub>
                    </m:sSub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Inference Deployment</a:t>
                </a:r>
              </a:p>
              <a:p>
                <a:pPr lvl="1"/>
                <a:r>
                  <a:rPr/>
                  <a:t>Stream patches into model via camera feed</a:t>
                </a:r>
              </a:p>
              <a:p>
                <a:pPr lvl="1"/>
                <a:r>
                  <a:rPr/>
                  <a:t>Generate anomaly scores in real-time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50</m:t>
                    </m:r>
                  </m:oMath>
                </a14:m>
                <a:r>
                  <a:rPr/>
                  <a:t>ms per patch)</a:t>
                </a:r>
              </a:p>
              <a:p>
                <a:pPr lvl="1"/>
                <a:r>
                  <a:rPr/>
                  <a:t>Visualize DSSIM heatmaps for operator review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Continuous Monitoring</a:t>
                </a:r>
              </a:p>
              <a:p>
                <a:pPr lvl="1"/>
                <a:r>
                  <a:rPr/>
                  <a:t>Track false positive / false negative rates</a:t>
                </a:r>
              </a:p>
              <a:p>
                <a:pPr lvl="1"/>
                <a:r>
                  <a:rPr/>
                  <a:t>Trigger alerts on batch degradation</a:t>
                </a:r>
              </a:p>
              <a:p>
                <a:pPr lvl="0" indent="0" marL="0">
                  <a:buNone/>
                </a:pPr>
                <a:r>
                  <a:rPr/>
                  <a:t>Why SolSight?</a:t>
                </a:r>
              </a:p>
              <a:p>
                <a:pPr lvl="0" indent="0" marL="0">
                  <a:buNone/>
                </a:pPr>
                <a:r>
                  <a:rPr/>
                  <a:t>No labeled defect data needed. Deploy on day one.</a:t>
                </a:r>
              </a:p>
              <a:p>
                <a:pPr lvl="0" indent="0" marL="0">
                  <a:buNone/>
                </a:pPr>
                <a:r>
                  <a:rPr/>
                  <a:t>Technical Stack</a:t>
                </a:r>
              </a:p>
              <a:p>
                <a:pPr lvl="0"/>
                <a:r>
                  <a:rPr b="1"/>
                  <a:t>Language:</a:t>
                </a:r>
                <a:r>
                  <a:rPr/>
                  <a:t> Python 3.10+</a:t>
                </a:r>
              </a:p>
              <a:p>
                <a:pPr lvl="0"/>
                <a:r>
                  <a:rPr b="1"/>
                  <a:t>Deep Learning:</a:t>
                </a:r>
                <a:r>
                  <a:rPr/>
                  <a:t> PyTorch 2.1+</a:t>
                </a:r>
              </a:p>
              <a:p>
                <a:pPr lvl="0"/>
                <a:r>
                  <a:rPr b="1"/>
                  <a:t>Vision:</a:t>
                </a:r>
                <a:r>
                  <a:rPr/>
                  <a:t> OpenCV, scikit-image (SSIM, morphology)</a:t>
                </a:r>
              </a:p>
              <a:p>
                <a:pPr lvl="0"/>
                <a:r>
                  <a:rPr b="1"/>
                  <a:t>Metrics:</a:t>
                </a:r>
                <a:r>
                  <a:rPr/>
                  <a:t> ROC-AUC, AUROC, precision/recall</a:t>
                </a:r>
              </a:p>
              <a:p>
                <a:pPr lvl="0"/>
                <a:r>
                  <a:rPr b="1"/>
                  <a:t>Deployment:</a:t>
                </a:r>
                <a:r>
                  <a:rPr/>
                  <a:t> ONNX export for edge hardware (optional)</a:t>
                </a:r>
              </a:p>
              <a:p>
                <a:pPr lvl="0" indent="0" marL="0">
                  <a:buNone/>
                </a:pPr>
                <a:r>
                  <a:rPr b="1"/>
                  <a:t>Fully open-source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•</m:t>
                    </m:r>
                  </m:oMath>
                </a14:m>
                <a:r>
                  <a:rPr b="1"/>
                  <a:t> MIT License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•</m:t>
                    </m:r>
                  </m:oMath>
                </a14:m>
                <a:r>
                  <a:rPr b="1"/>
                  <a:t> Production-validated</a:t>
                </a:r>
              </a:p>
              <a:p>
                <a:pPr lvl="0" indent="0" marL="0">
                  <a:buNone/>
                </a:pPr>
                <a:r>
                  <a:rPr/>
                  <a:t>Quick Start (3 Steps) </a:t>
                </a:r>
                <a:r>
                  <a:rPr b="1"/>
                  <a:t>Step 1: Setup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6287E"/>
                    </a:solidFill>
                    <a:latin typeface="Courier"/>
                  </a:rPr>
                  <a:t>git</a:t>
                </a:r>
                <a:r>
                  <a:rPr>
                    <a:latin typeface="Courier"/>
                  </a:rPr>
                  <a:t> clone https://github.com/stanmaluki/SolderDefectDetectionSystem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cd</a:t>
                </a:r>
                <a:r>
                  <a:rPr>
                    <a:latin typeface="Courier"/>
                  </a:rPr>
                  <a:t> SolderDefectDetectionSystem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&amp;&amp;</a:t>
                </a:r>
                <a:r>
                  <a:rPr>
                    <a:latin typeface="Courier"/>
                  </a:rPr>
                  <a:t> pip install </a:t>
                </a:r>
                <a:r>
                  <a:rPr>
                    <a:solidFill>
                      <a:srgbClr val="7D9029"/>
                    </a:solidFill>
                    <a:latin typeface="Courier"/>
                  </a:rPr>
                  <a:t>-r</a:t>
                </a:r>
                <a:r>
                  <a:rPr>
                    <a:latin typeface="Courier"/>
                  </a:rPr>
                  <a:t> requirements.txt</a:t>
                </a:r>
              </a:p>
              <a:p>
                <a:pPr lvl="0" indent="0" marL="0">
                  <a:buNone/>
                </a:pPr>
                <a:r>
                  <a:rPr b="1"/>
                  <a:t>Step 2: Verify Architecture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python scripts/shape_check.py</a:t>
                </a:r>
              </a:p>
              <a:p>
                <a:pPr lvl="0" indent="0" marL="0">
                  <a:buNone/>
                </a:pPr>
                <a:r>
                  <a:rPr b="1"/>
                  <a:t>Step 3: Run Evaluation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python scripts/evaluate.py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Full benchmark</a:t>
                </a:r>
                <a:br/>
                <a:r>
                  <a:rPr>
                    <a:latin typeface="Courier"/>
                  </a:rPr>
                  <a:t>python src/inference/predict.py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Single patch inference</a:t>
                </a:r>
              </a:p>
              <a:p>
                <a:pPr lvl="0" indent="0" marL="0">
                  <a:buNone/>
                </a:pPr>
                <a:r>
                  <a:rPr/>
                  <a:t>Key Metrics Summary</a:t>
                </a:r>
              </a:p>
              <a:p>
                <a:pPr lvl="0"/>
                <a:r>
                  <a:rPr b="1"/>
                  <a:t>Training Time:</a:t>
                </a:r>
                <a:r>
                  <a:rPr/>
                  <a:t> 30 epochs on 5,700 patches @ 32 batch size</a:t>
                </a:r>
              </a:p>
              <a:p>
                <a:pPr lvl="0"/>
                <a:r>
                  <a:rPr b="1"/>
                  <a:t>Inference Speed: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50</m:t>
                    </m:r>
                  </m:oMath>
                </a14:m>
                <a:r>
                  <a:rPr/>
                  <a:t>ms per patch (CPU-capable)</a:t>
                </a:r>
              </a:p>
              <a:p>
                <a:pPr lvl="0"/>
                <a:r>
                  <a:rPr b="1"/>
                  <a:t>Model Size:</a:t>
                </a:r>
                <a:r>
                  <a:rPr/>
                  <a:t> 2.4 MB (deployable on edge devices)</a:t>
                </a:r>
              </a:p>
              <a:p>
                <a:pPr lvl="0"/>
                <a:r>
                  <a:rPr b="1"/>
                  <a:t>Memory:</a:t>
                </a:r>
                <a:r>
                  <a:rPr/>
                  <a:t> 280 MB GPU (or CPU-compatible)</a:t>
                </a:r>
              </a:p>
              <a:p>
                <a:pPr lvl="0" indent="0" marL="0">
                  <a:buNone/>
                </a:pPr>
                <a:r>
                  <a:rPr/>
                  <a:t>Use Cases &amp; Applications</a:t>
                </a:r>
              </a:p>
              <a:p>
                <a:pPr lvl="0"/>
                <a:r>
                  <a:rPr b="1"/>
                  <a:t>High-Volume Manufacturing</a:t>
                </a:r>
              </a:p>
              <a:p>
                <a:pPr lvl="1"/>
                <a:r>
                  <a:rPr/>
                  <a:t>Real-time PCB assembly line defect screening</a:t>
                </a:r>
              </a:p>
              <a:p>
                <a:pPr lvl="1"/>
                <a:r>
                  <a:rPr/>
                  <a:t>Zero downtime for model retraining</a:t>
                </a:r>
              </a:p>
              <a:p>
                <a:pPr lvl="0"/>
                <a:r>
                  <a:rPr b="1"/>
                  <a:t>Quality Assurance</a:t>
                </a:r>
              </a:p>
              <a:p>
                <a:pPr lvl="1"/>
                <a:r>
                  <a:rPr/>
                  <a:t>Batch-level anomaly tracking and reporting</a:t>
                </a:r>
              </a:p>
              <a:p>
                <a:pPr lvl="1"/>
                <a:r>
                  <a:rPr/>
                  <a:t>Automated defect triage and operator alerts</a:t>
                </a:r>
              </a:p>
              <a:p>
                <a:pPr lvl="0"/>
                <a:r>
                  <a:rPr b="1"/>
                  <a:t>Research &amp; Development</a:t>
                </a:r>
              </a:p>
              <a:p>
                <a:pPr lvl="1"/>
                <a:r>
                  <a:rPr/>
                  <a:t>Benchmark new soldering processes against baseline normals</a:t>
                </a:r>
              </a:p>
              <a:p>
                <a:pPr lvl="1"/>
                <a:r>
                  <a:rPr/>
                  <a:t>Rapid failure analysis without labeled datasets</a:t>
                </a:r>
              </a:p>
              <a:p>
                <a:pPr lvl="0" indent="0" marL="0">
                  <a:buNone/>
                </a:pPr>
                <a:r>
                  <a:rPr/>
                  <a:t>Future Enhancements</a:t>
                </a:r>
              </a:p>
              <a:p>
                <a:pPr lvl="0"/>
                <a:r>
                  <a:rPr b="1"/>
                  <a:t>Multi-Modal Fusion</a:t>
                </a:r>
              </a:p>
              <a:p>
                <a:pPr lvl="1"/>
                <a:r>
                  <a:rPr/>
                  <a:t>Combine visible + thermal imaging for enhanced detection</a:t>
                </a:r>
              </a:p>
              <a:p>
                <a:pPr lvl="0"/>
                <a:r>
                  <a:rPr b="1"/>
                  <a:t>Online Adaptation</a:t>
                </a:r>
              </a:p>
              <a:p>
                <a:pPr lvl="1"/>
                <a:r>
                  <a:rPr/>
                  <a:t>Continuous threshold refinement with human feedback loop</a:t>
                </a:r>
              </a:p>
              <a:p>
                <a:pPr lvl="0"/>
                <a:r>
                  <a:rPr b="1"/>
                  <a:t>Edge Deployment</a:t>
                </a:r>
              </a:p>
              <a:p>
                <a:pPr lvl="1"/>
                <a:r>
                  <a:rPr/>
                  <a:t>ONNX + TVM quantization for ARM/FPGA targets</a:t>
                </a:r>
              </a:p>
              <a:p>
                <a:pPr lvl="0"/>
                <a:r>
                  <a:rPr b="1"/>
                  <a:t>Explainability Layer</a:t>
                </a:r>
              </a:p>
              <a:p>
                <a:pPr lvl="1"/>
                <a:r>
                  <a:rPr/>
                  <a:t>Attention maps and gradient-based defect importance ranking</a:t>
                </a:r>
              </a:p>
              <a:p>
                <a:pPr lvl="0" indent="0" marL="0">
                  <a:buNone/>
                </a:pPr>
                <a:r>
                  <a:rPr/>
                  <a:t>Contact &amp; Resources</a:t>
                </a:r>
              </a:p>
              <a:p>
                <a:pPr lvl="0" indent="0" marL="0">
                  <a:buNone/>
                </a:pPr>
                <a:r>
                  <a:rPr b="1"/>
                  <a:t>GitHub Repository</a:t>
                </a:r>
              </a:p>
              <a:p>
                <a:pPr lvl="0" indent="0" marL="0">
                  <a:buNone/>
                </a:pPr>
                <a:r>
                  <a:rPr>
                    <a:hlinkClick r:id="rId2"/>
                    <a:latin typeface="Courier"/>
                  </a:rPr>
                  <a:t>github.com/stanmaluki/SolderDefectDetectionSystem</a:t>
                </a:r>
              </a:p>
              <a:p>
                <a:pPr lvl="0" indent="0" marL="0">
                  <a:buNone/>
                </a:pPr>
                <a:r>
                  <a:rPr b="1"/>
                  <a:t>Documentation</a:t>
                </a:r>
              </a:p>
              <a:p>
                <a:pPr lvl="0" indent="0" marL="0">
                  <a:buNone/>
                </a:pPr>
                <a:r>
                  <a:rPr/>
                  <a:t>Full evaluation guide, architecture specs, and failure boundaries</a:t>
                </a:r>
              </a:p>
              <a:p>
                <a:pPr lvl="0" indent="0" marL="0">
                  <a:buNone/>
                </a:pPr>
                <a:r>
                  <a:rPr b="1"/>
                  <a:t>License</a:t>
                </a:r>
              </a:p>
              <a:p>
                <a:pPr lvl="0" indent="0" marL="0">
                  <a:buNone/>
                </a:pPr>
                <a:r>
                  <a:rPr/>
                  <a:t>MIT — Free for research and commercial use</a:t>
                </a:r>
              </a:p>
              <a:p>
                <a:pPr lvl="0" indent="0" marL="0">
                  <a:buNone/>
                </a:pPr>
                <a:r>
                  <a:rPr/>
                  <a:t> </a:t>
                </a:r>
                <a:r>
                  <a:rPr b="1"/>
                  <a:t>Questions?</a:t>
                </a:r>
              </a:p>
              <a:p>
                <a:pPr lvl="0" indent="0" marL="0">
                  <a:buNone/>
                </a:pPr>
                <a:r>
                  <a:rPr/>
                  <a:t>Automatic Optical Inspection</a:t>
                </a:r>
              </a:p>
              <a:p>
                <a:pPr lvl="0" indent="0" marL="0">
                  <a:buNone/>
                </a:pPr>
                <a:r>
                  <a:rPr/>
                  <a:t>Made Simple &amp; Unsupervised</a:t>
                </a:r>
              </a:p>
              <a:p>
                <a:pPr lvl="0" indent="0" marL="0">
                  <a:buNone/>
                </a:pPr>
                <a:r>
                  <a:rPr>
                    <a:latin typeface="Courier"/>
                  </a:rPr>
                  <a:t>AI-Powered Quality Control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SolSight</dc:title>
  <dc:creator>AI-Powered Defect Detection</dc:creator>
  <cp:keywords/>
  <dcterms:created xsi:type="dcterms:W3CDTF">2026-09-27T15:59:51Z</dcterms:created>
  <dcterms:modified xsi:type="dcterms:W3CDTF">2026-09-27T15:59:51Z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2026-09-27</vt:lpwstr>
  </property>
  <property fmtid="{D5CDD505-2E9C-101B-9397-08002B2CF9AE}" pid="3" name="subtitle">
    <vt:lpwstr>Solder Defect Detection System — Automatic Optical Inspection with AI</vt:lpwstr>
  </property>
</Properties>
</file>